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media/image2.png" ContentType="image/png"/>
  <Override PartName="/ppt/media/image3.jpeg" ContentType="image/jpeg"/>
  <Override PartName="/ppt/media/image4.png" ContentType="image/png"/>
  <Override PartName="/ppt/media/image8.jpeg" ContentType="image/jpeg"/>
  <Override PartName="/ppt/media/image5.jpeg" ContentType="image/jpeg"/>
  <Override PartName="/ppt/media/image10.jpeg" ContentType="image/jpeg"/>
  <Override PartName="/ppt/media/image6.png" ContentType="image/png"/>
  <Override PartName="/ppt/media/image11.png" ContentType="image/png"/>
  <Override PartName="/ppt/media/image12.jpeg" ContentType="image/jpeg"/>
  <Override PartName="/ppt/media/image7.png" ContentType="image/png"/>
  <Override PartName="/ppt/media/image9.png" ContentType="image/png"/>
  <Override PartName="/ppt/media/image1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24A8104-8E74-4173-90FE-21C343660C3D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1828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914400" y="4400640"/>
            <a:ext cx="73148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4"/>
          </p:nvPr>
        </p:nvSpPr>
        <p:spPr>
          <a:xfrm>
            <a:off x="5179320" y="8685360"/>
            <a:ext cx="396216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D5AB820-316D-4082-894C-6FB9AEBCA00E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1828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914400" y="4400640"/>
            <a:ext cx="73148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5"/>
          </p:nvPr>
        </p:nvSpPr>
        <p:spPr>
          <a:xfrm>
            <a:off x="5179320" y="8685360"/>
            <a:ext cx="396216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32002FD-F635-4532-A063-C69246BE8F03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1828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914400" y="4400640"/>
            <a:ext cx="7314840" cy="360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6"/>
          </p:nvPr>
        </p:nvSpPr>
        <p:spPr>
          <a:xfrm>
            <a:off x="5179320" y="8685360"/>
            <a:ext cx="396216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65297EB-C089-4011-ACB4-BDFFBDB2B7A9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1828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914400" y="4400640"/>
            <a:ext cx="73148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7"/>
          </p:nvPr>
        </p:nvSpPr>
        <p:spPr>
          <a:xfrm>
            <a:off x="5179320" y="8685360"/>
            <a:ext cx="396216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6E71EF7-7641-4C7C-A327-B23295EFB72C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1828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914400" y="4400640"/>
            <a:ext cx="73148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8"/>
          </p:nvPr>
        </p:nvSpPr>
        <p:spPr>
          <a:xfrm>
            <a:off x="5179320" y="8685360"/>
            <a:ext cx="396216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93F4F7E-8720-4F62-9BAB-A6BCFA83F73E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1828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914400" y="4400640"/>
            <a:ext cx="73148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9"/>
          </p:nvPr>
        </p:nvSpPr>
        <p:spPr>
          <a:xfrm>
            <a:off x="5179320" y="8685360"/>
            <a:ext cx="396216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F4539BD-E210-4293-9B19-6268D9348224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1828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914400" y="4400640"/>
            <a:ext cx="73148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10"/>
          </p:nvPr>
        </p:nvSpPr>
        <p:spPr>
          <a:xfrm>
            <a:off x="5179320" y="8685360"/>
            <a:ext cx="396216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623B744-BAB6-49CB-AC7D-4E637B503D86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jpe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61;p16"/>
          <p:cNvSpPr/>
          <p:nvPr/>
        </p:nvSpPr>
        <p:spPr>
          <a:xfrm>
            <a:off x="957600" y="1581120"/>
            <a:ext cx="7228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5400" spc="-1" strike="noStrike">
                <a:solidFill>
                  <a:srgbClr val="ffffff"/>
                </a:solidFill>
                <a:latin typeface="Arial"/>
                <a:ea typeface="Arial"/>
              </a:rPr>
              <a:t>Reproducibility Study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45" name="Google Shape;62;p16"/>
          <p:cNvSpPr/>
          <p:nvPr/>
        </p:nvSpPr>
        <p:spPr>
          <a:xfrm>
            <a:off x="1339920" y="2571840"/>
            <a:ext cx="64634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" sz="2250" spc="-1" strike="noStrike">
                <a:solidFill>
                  <a:srgbClr val="ffffff"/>
                </a:solidFill>
                <a:latin typeface="Arial"/>
                <a:ea typeface="Arial"/>
              </a:rPr>
              <a:t>CNN-Based Prognosis for Head and Neck Cancer</a:t>
            </a:r>
            <a:endParaRPr b="0" lang="en-IN" sz="2250" spc="-1" strike="noStrike">
              <a:latin typeface="Arial"/>
            </a:endParaRPr>
          </a:p>
        </p:txBody>
      </p:sp>
      <p:sp>
        <p:nvSpPr>
          <p:cNvPr id="46" name="Google Shape;63;p16"/>
          <p:cNvSpPr/>
          <p:nvPr/>
        </p:nvSpPr>
        <p:spPr>
          <a:xfrm>
            <a:off x="3222360" y="3295800"/>
            <a:ext cx="2698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55000"/>
              </a:lnSpc>
              <a:buNone/>
              <a:tabLst>
                <a:tab algn="l" pos="0"/>
              </a:tabLst>
            </a:pPr>
            <a:r>
              <a:rPr b="0" lang="en" sz="1350" spc="-1" strike="noStrike">
                <a:solidFill>
                  <a:srgbClr val="ffffff"/>
                </a:solidFill>
                <a:latin typeface="Arial"/>
                <a:ea typeface="Arial"/>
              </a:rPr>
              <a:t>Progress Update | December 2025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47" name="Rectangle 2"/>
          <p:cNvSpPr/>
          <p:nvPr/>
        </p:nvSpPr>
        <p:spPr>
          <a:xfrm>
            <a:off x="0" y="3857760"/>
            <a:ext cx="9143640" cy="128556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TextBox 3"/>
          <p:cNvSpPr/>
          <p:nvPr/>
        </p:nvSpPr>
        <p:spPr>
          <a:xfrm>
            <a:off x="257040" y="4017240"/>
            <a:ext cx="33159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2060"/>
                </a:solidFill>
                <a:latin typeface="Arial"/>
                <a:ea typeface="Arial"/>
              </a:rPr>
              <a:t>By: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2060"/>
                </a:solidFill>
                <a:latin typeface="Arial"/>
                <a:ea typeface="Arial"/>
              </a:rPr>
              <a:t>Hasan Shaikh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2060"/>
                </a:solidFill>
                <a:latin typeface="Arial"/>
                <a:ea typeface="Arial"/>
              </a:rPr>
              <a:t>Quantitative Imaging Research and Artificial Intelligence Lab (QIRAIL)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9" name="TextBox 4"/>
          <p:cNvSpPr/>
          <p:nvPr/>
        </p:nvSpPr>
        <p:spPr>
          <a:xfrm>
            <a:off x="5245560" y="4084560"/>
            <a:ext cx="33159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2060"/>
                </a:solidFill>
                <a:latin typeface="Arial"/>
                <a:ea typeface="Arial"/>
              </a:rPr>
              <a:t>Under the guidance: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2060"/>
                </a:solidFill>
                <a:latin typeface="Arial"/>
                <a:ea typeface="Arial"/>
              </a:rPr>
              <a:t>Dr. Hannah Mary Thomas T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2060"/>
                </a:solidFill>
                <a:latin typeface="Arial"/>
                <a:ea typeface="Arial"/>
              </a:rPr>
              <a:t>Scientist, BMIU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2060"/>
                </a:solidFill>
                <a:latin typeface="Arial"/>
                <a:ea typeface="Arial"/>
              </a:rPr>
              <a:t>CMC, Vellore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69;p17"/>
          <p:cNvSpPr/>
          <p:nvPr/>
        </p:nvSpPr>
        <p:spPr>
          <a:xfrm>
            <a:off x="380880" y="266760"/>
            <a:ext cx="42840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1000"/>
              </a:lnSpc>
              <a:buNone/>
              <a:tabLst>
                <a:tab algn="l" pos="0"/>
              </a:tabLst>
            </a:pPr>
            <a:r>
              <a:rPr b="1" lang="en" sz="2700" spc="-1" strike="noStrike">
                <a:solidFill>
                  <a:srgbClr val="0d7377"/>
                </a:solidFill>
                <a:latin typeface="Arial"/>
                <a:ea typeface="Arial"/>
              </a:rPr>
              <a:t>Study Overview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51" name="Google Shape;70;p17"/>
          <p:cNvSpPr/>
          <p:nvPr/>
        </p:nvSpPr>
        <p:spPr>
          <a:xfrm>
            <a:off x="380880" y="1471680"/>
            <a:ext cx="8381520" cy="669960"/>
          </a:xfrm>
          <a:prstGeom prst="roundRect">
            <a:avLst>
              <a:gd name="adj" fmla="val 9092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Google Shape;71;p17"/>
          <p:cNvSpPr/>
          <p:nvPr/>
        </p:nvSpPr>
        <p:spPr>
          <a:xfrm>
            <a:off x="514440" y="1605240"/>
            <a:ext cx="82771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" sz="1050" spc="-1" strike="noStrike">
                <a:solidFill>
                  <a:srgbClr val="0d7377"/>
                </a:solidFill>
                <a:latin typeface="Arial"/>
                <a:ea typeface="Arial"/>
              </a:rPr>
              <a:t>Paper Being Reproduced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3" name="Google Shape;72;p17"/>
          <p:cNvSpPr/>
          <p:nvPr/>
        </p:nvSpPr>
        <p:spPr>
          <a:xfrm>
            <a:off x="514440" y="1848960"/>
            <a:ext cx="8277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1a1a1a"/>
                </a:solidFill>
                <a:latin typeface="Arial"/>
                <a:ea typeface="Arial"/>
              </a:rPr>
              <a:t>Mateus et al. (2023) - "Image based prognosis in head and neck cancer using convolutional neural networks"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4" name="Google Shape;73;p17"/>
          <p:cNvSpPr/>
          <p:nvPr/>
        </p:nvSpPr>
        <p:spPr>
          <a:xfrm>
            <a:off x="380880" y="2275560"/>
            <a:ext cx="4123800" cy="1334880"/>
          </a:xfrm>
          <a:prstGeom prst="roundRect">
            <a:avLst>
              <a:gd name="adj" fmla="val 4565"/>
            </a:avLst>
          </a:prstGeom>
          <a:solidFill>
            <a:srgbClr val="e8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Google Shape;74;p17"/>
          <p:cNvSpPr/>
          <p:nvPr/>
        </p:nvSpPr>
        <p:spPr>
          <a:xfrm>
            <a:off x="495360" y="2390040"/>
            <a:ext cx="397332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" sz="980" spc="-1" strike="noStrike">
                <a:solidFill>
                  <a:srgbClr val="1a1a1a"/>
                </a:solidFill>
                <a:latin typeface="Arial"/>
                <a:ea typeface="Arial"/>
              </a:rPr>
              <a:t>Three Clinical Outcomes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56" name="Google Shape;75;p17"/>
          <p:cNvSpPr/>
          <p:nvPr/>
        </p:nvSpPr>
        <p:spPr>
          <a:xfrm>
            <a:off x="495360" y="2620440"/>
            <a:ext cx="389520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0" tIns="0" bIns="0" anchor="t">
            <a:noAutofit/>
          </a:bodyPr>
          <a:p>
            <a:pPr marL="76320" indent="-85680">
              <a:lnSpc>
                <a:spcPct val="155000"/>
              </a:lnSpc>
              <a:buClr>
                <a:srgbClr val="1a1a1a"/>
              </a:buClr>
              <a:buFont typeface="Arial"/>
              <a:buChar char="•"/>
            </a:pPr>
            <a:r>
              <a:rPr b="0" lang="en" sz="1200" spc="-1" strike="noStrike">
                <a:solidFill>
                  <a:srgbClr val="1a1a1a"/>
                </a:solidFill>
                <a:latin typeface="Arial"/>
                <a:ea typeface="Arial"/>
              </a:rPr>
              <a:t>Distant Metastasis (2y)</a:t>
            </a:r>
            <a:endParaRPr b="0" lang="en-IN" sz="1200" spc="-1" strike="noStrike">
              <a:latin typeface="Arial"/>
            </a:endParaRPr>
          </a:p>
          <a:p>
            <a:pPr marL="76320" indent="-85680">
              <a:lnSpc>
                <a:spcPct val="155000"/>
              </a:lnSpc>
              <a:buClr>
                <a:srgbClr val="1a1a1a"/>
              </a:buClr>
              <a:buFont typeface="Arial"/>
              <a:buChar char="•"/>
            </a:pPr>
            <a:r>
              <a:rPr b="0" lang="en" sz="1200" spc="-1" strike="noStrike">
                <a:solidFill>
                  <a:srgbClr val="1a1a1a"/>
                </a:solidFill>
                <a:latin typeface="Arial"/>
                <a:ea typeface="Arial"/>
              </a:rPr>
              <a:t>Locoregional Recurrence (2y)</a:t>
            </a:r>
            <a:endParaRPr b="0" lang="en-IN" sz="1200" spc="-1" strike="noStrike">
              <a:latin typeface="Arial"/>
            </a:endParaRPr>
          </a:p>
          <a:p>
            <a:pPr marL="76320" indent="-85680">
              <a:lnSpc>
                <a:spcPct val="155000"/>
              </a:lnSpc>
              <a:buClr>
                <a:srgbClr val="1a1a1a"/>
              </a:buClr>
              <a:buFont typeface="Arial"/>
              <a:buChar char="•"/>
            </a:pPr>
            <a:r>
              <a:rPr b="0" lang="en" sz="1200" spc="-1" strike="noStrike">
                <a:solidFill>
                  <a:srgbClr val="1a1a1a"/>
                </a:solidFill>
                <a:latin typeface="Arial"/>
                <a:ea typeface="Arial"/>
              </a:rPr>
              <a:t>Overall Survival (4y)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7" name="Google Shape;76;p17"/>
          <p:cNvSpPr/>
          <p:nvPr/>
        </p:nvSpPr>
        <p:spPr>
          <a:xfrm>
            <a:off x="4638600" y="2427840"/>
            <a:ext cx="4123800" cy="1029960"/>
          </a:xfrm>
          <a:prstGeom prst="roundRect">
            <a:avLst>
              <a:gd name="adj" fmla="val 5916"/>
            </a:avLst>
          </a:prstGeom>
          <a:solidFill>
            <a:srgbClr val="e8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Google Shape;77;p17"/>
          <p:cNvSpPr/>
          <p:nvPr/>
        </p:nvSpPr>
        <p:spPr>
          <a:xfrm>
            <a:off x="4753080" y="2542320"/>
            <a:ext cx="397332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" sz="980" spc="-1" strike="noStrike">
                <a:solidFill>
                  <a:srgbClr val="1a1a1a"/>
                </a:solidFill>
                <a:latin typeface="Arial"/>
                <a:ea typeface="Arial"/>
              </a:rPr>
              <a:t>Two Model Configurations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59" name="Google Shape;78;p17"/>
          <p:cNvSpPr/>
          <p:nvPr/>
        </p:nvSpPr>
        <p:spPr>
          <a:xfrm>
            <a:off x="4753080" y="2772720"/>
            <a:ext cx="38952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0" tIns="0" bIns="0" anchor="t">
            <a:noAutofit/>
          </a:bodyPr>
          <a:p>
            <a:pPr marL="76320" indent="-85680">
              <a:lnSpc>
                <a:spcPct val="155000"/>
              </a:lnSpc>
              <a:buClr>
                <a:srgbClr val="1a1a1a"/>
              </a:buClr>
              <a:buFont typeface="Arial"/>
              <a:buChar char="•"/>
            </a:pPr>
            <a:r>
              <a:rPr b="0" lang="en" sz="1200" spc="-1" strike="noStrike">
                <a:solidFill>
                  <a:srgbClr val="1a1a1a"/>
                </a:solidFill>
                <a:latin typeface="Arial"/>
                <a:ea typeface="Arial"/>
              </a:rPr>
              <a:t>Imaging-only (CNN on CT)</a:t>
            </a:r>
            <a:endParaRPr b="0" lang="en-IN" sz="1200" spc="-1" strike="noStrike">
              <a:latin typeface="Arial"/>
            </a:endParaRPr>
          </a:p>
          <a:p>
            <a:pPr marL="76320" indent="-85680">
              <a:lnSpc>
                <a:spcPct val="155000"/>
              </a:lnSpc>
              <a:buClr>
                <a:srgbClr val="1a1a1a"/>
              </a:buClr>
              <a:buFont typeface="Arial"/>
              <a:buChar char="•"/>
            </a:pPr>
            <a:r>
              <a:rPr b="0" lang="en" sz="1200" spc="-1" strike="noStrike">
                <a:solidFill>
                  <a:srgbClr val="1a1a1a"/>
                </a:solidFill>
                <a:latin typeface="Arial"/>
                <a:ea typeface="Arial"/>
              </a:rPr>
              <a:t>Imaging + Clinical data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0" name="Google Shape;79;p17"/>
          <p:cNvSpPr/>
          <p:nvPr/>
        </p:nvSpPr>
        <p:spPr>
          <a:xfrm>
            <a:off x="380880" y="3744360"/>
            <a:ext cx="8381520" cy="727200"/>
          </a:xfrm>
          <a:prstGeom prst="roundRect">
            <a:avLst>
              <a:gd name="adj" fmla="val 8378"/>
            </a:avLst>
          </a:prstGeom>
          <a:solidFill>
            <a:srgbClr val="fff5f5"/>
          </a:solidFill>
          <a:ln w="28575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Google Shape;80;p17"/>
          <p:cNvSpPr/>
          <p:nvPr/>
        </p:nvSpPr>
        <p:spPr>
          <a:xfrm>
            <a:off x="542880" y="3906000"/>
            <a:ext cx="821880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" sz="1050" spc="-1" strike="noStrike">
                <a:solidFill>
                  <a:srgbClr val="ff6b6b"/>
                </a:solidFill>
                <a:latin typeface="Arial"/>
                <a:ea typeface="Arial"/>
              </a:rPr>
              <a:t>Objective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2" name="Google Shape;81;p17"/>
          <p:cNvSpPr/>
          <p:nvPr/>
        </p:nvSpPr>
        <p:spPr>
          <a:xfrm>
            <a:off x="542880" y="4150080"/>
            <a:ext cx="82188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1a1a1a"/>
                </a:solidFill>
                <a:latin typeface="Arial"/>
                <a:ea typeface="Arial"/>
              </a:rPr>
              <a:t>Reproduce the paper's methodology on the Maastro dataset, then apply validated approach to our CMC dataset for external validation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63" name="Google Shape;82;p17"/>
          <p:cNvSpPr/>
          <p:nvPr/>
        </p:nvSpPr>
        <p:spPr>
          <a:xfrm>
            <a:off x="380880" y="4781520"/>
            <a:ext cx="85492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" sz="750" spc="-1" strike="noStrike">
                <a:solidFill>
                  <a:srgbClr val="666666"/>
                </a:solidFill>
                <a:latin typeface="Arial"/>
                <a:ea typeface="Arial"/>
              </a:rPr>
              <a:t>Canada dataset (training) → Maastro (testing) | Our work: Reproduce + CMC validation</a:t>
            </a:r>
            <a:endParaRPr b="0" lang="en-IN" sz="750" spc="-1" strike="noStrike">
              <a:latin typeface="Arial"/>
            </a:endParaRPr>
          </a:p>
        </p:txBody>
      </p:sp>
      <p:pic>
        <p:nvPicPr>
          <p:cNvPr id="64" name="Picture 1" descr="Logo&#10;&#10;Description automatically generated"/>
          <p:cNvPicPr/>
          <p:nvPr/>
        </p:nvPicPr>
        <p:blipFill>
          <a:blip r:embed="rId1"/>
          <a:stretch/>
        </p:blipFill>
        <p:spPr>
          <a:xfrm>
            <a:off x="7410600" y="266760"/>
            <a:ext cx="590760" cy="581760"/>
          </a:xfrm>
          <a:prstGeom prst="rect">
            <a:avLst/>
          </a:prstGeom>
          <a:ln w="0">
            <a:noFill/>
          </a:ln>
        </p:spPr>
      </p:pic>
      <p:pic>
        <p:nvPicPr>
          <p:cNvPr id="65" name="Picture 2" descr="A picture containing logo&#10;&#10;Description automatically generated"/>
          <p:cNvPicPr/>
          <p:nvPr/>
        </p:nvPicPr>
        <p:blipFill>
          <a:blip r:embed="rId2"/>
          <a:stretch/>
        </p:blipFill>
        <p:spPr>
          <a:xfrm>
            <a:off x="8162280" y="266760"/>
            <a:ext cx="586800" cy="57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88;p18"/>
          <p:cNvSpPr/>
          <p:nvPr/>
        </p:nvSpPr>
        <p:spPr>
          <a:xfrm>
            <a:off x="380880" y="324000"/>
            <a:ext cx="61689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1000"/>
              </a:lnSpc>
              <a:buNone/>
              <a:tabLst>
                <a:tab algn="l" pos="0"/>
              </a:tabLst>
            </a:pPr>
            <a:r>
              <a:rPr b="1" lang="en" sz="2700" spc="-1" strike="noStrike">
                <a:solidFill>
                  <a:srgbClr val="0d7377"/>
                </a:solidFill>
                <a:latin typeface="Arial"/>
                <a:ea typeface="Arial"/>
              </a:rPr>
              <a:t>Reproduction Results - Imaging Only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67" name="Google Shape;89;p18"/>
          <p:cNvSpPr/>
          <p:nvPr/>
        </p:nvSpPr>
        <p:spPr>
          <a:xfrm>
            <a:off x="380880" y="800280"/>
            <a:ext cx="2604600" cy="312120"/>
          </a:xfrm>
          <a:prstGeom prst="roundRect">
            <a:avLst>
              <a:gd name="adj" fmla="val 19514"/>
            </a:avLst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Google Shape;90;p18"/>
          <p:cNvSpPr/>
          <p:nvPr/>
        </p:nvSpPr>
        <p:spPr>
          <a:xfrm>
            <a:off x="399960" y="800280"/>
            <a:ext cx="360" cy="312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Google Shape;91;p18"/>
          <p:cNvSpPr/>
          <p:nvPr/>
        </p:nvSpPr>
        <p:spPr>
          <a:xfrm>
            <a:off x="533520" y="876240"/>
            <a:ext cx="238464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" sz="900" spc="-1" strike="noStrike">
                <a:solidFill>
                  <a:srgbClr val="0d7377"/>
                </a:solidFill>
                <a:latin typeface="Arial"/>
                <a:ea typeface="Arial"/>
              </a:rPr>
              <a:t>✓ </a:t>
            </a:r>
            <a:r>
              <a:rPr b="1" lang="en" sz="900" spc="-1" strike="noStrike">
                <a:solidFill>
                  <a:srgbClr val="0d7377"/>
                </a:solidFill>
                <a:latin typeface="Arial"/>
                <a:ea typeface="Arial"/>
              </a:rPr>
              <a:t>Successfully reproduced original results</a:t>
            </a:r>
            <a:endParaRPr b="0" lang="en-IN" sz="900" spc="-1" strike="noStrike">
              <a:latin typeface="Arial"/>
            </a:endParaRPr>
          </a:p>
        </p:txBody>
      </p:sp>
      <p:graphicFrame>
        <p:nvGraphicFramePr>
          <p:cNvPr id="70" name="Google Shape;92;p18"/>
          <p:cNvGraphicFramePr/>
          <p:nvPr/>
        </p:nvGraphicFramePr>
        <p:xfrm>
          <a:off x="502560" y="2017440"/>
          <a:ext cx="8061120" cy="1043640"/>
        </p:xfrm>
        <a:graphic>
          <a:graphicData uri="http://schemas.openxmlformats.org/drawingml/2006/table">
            <a:tbl>
              <a:tblPr/>
              <a:tblGrid>
                <a:gridCol w="1521000"/>
                <a:gridCol w="1124640"/>
                <a:gridCol w="2706480"/>
                <a:gridCol w="2709000"/>
              </a:tblGrid>
              <a:tr h="20988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Events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ctr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Cohort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ctr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Paper Results (CNN)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Our Results (CNN)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9880">
                <a:tc gridSpan="2">
                  <a:tcPr anchor="ctr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Cohort split (CI 95%) / </a:t>
                      </a:r>
                      <a:r>
                        <a:rPr b="1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5-fold CV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Cohort split (CI 95%) / 5-fold CV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6800">
                <a:tc rowSpan="3"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Distant Metastasis (2y)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ctr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Train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0.91 [0.84, 0.96] / </a:t>
                      </a: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0.87 (0.84–0.92)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800" spc="-1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</a:rPr>
                        <a:t>0.85 [0.75, 0.93] / 0.88 (0.83–0.93)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6800">
                <a:tc v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Val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0.89 [0.81, 0.96] / </a:t>
                      </a: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0.86 (0.77–0.96)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800" spc="-1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</a:rPr>
                        <a:t>0.87 [0.73, 0.98] / 0.86 (0.81–0.95)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6800">
                <a:tc v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Test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0.89 [0.79, 0.98] / </a:t>
                      </a: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0.83 (0.76–0.90)</a:t>
                      </a: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 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800" spc="-1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</a:rPr>
                        <a:t>0.87 [0.67, 0.99] / 0.79 (0.74–0.85)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6800">
                <a:tc rowSpan="3"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Locoregional failure (2y)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ctr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Train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0.76 [0.64, 0.88] / </a:t>
                      </a: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0.77 (0.72–0.86)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800" spc="-1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</a:rPr>
                        <a:t>0.71 [0.57, 0.84] / 0.78 (0.71–0.81)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7880">
                <a:tc v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Val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0.77 [0.58, 0.92] / </a:t>
                      </a: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0.76 (0.72–0.84)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800" spc="-1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</a:rPr>
                        <a:t>0.72 [0.53, 0.88] / 0.79 (0.74–0.82)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6800">
                <a:tc v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Test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0.45 [0.32, 0.57] / </a:t>
                      </a: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0.53 (0.48–0.59)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800" spc="-1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</a:rPr>
                        <a:t>0.49 [0.36, 0.62] / 0.56 (0.54–0.57)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6800">
                <a:tc rowSpan="3"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Overall survival (4y)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ctr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Train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0.84 [0.75, 0.92] / </a:t>
                      </a: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0.82 (0.68–0.94)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800" spc="-1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</a:rPr>
                        <a:t>0.75 [0.61, 0.86] / 0.79 (0.77–0.81)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6800">
                <a:tc v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Val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0.80 [0.66, 0.91] / </a:t>
                      </a: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0.77 (0.62–0.96)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800" spc="-1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</a:rPr>
                        <a:t>0.77 [0.62, 0.90] / 0.79 (0.78–0.80)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6800">
                <a:tc v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Test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7200">
                      <a:solidFill>
                        <a:srgbClr val="000000"/>
                      </a:solidFill>
                    </a:lnR>
                    <a:lnT w="7200">
                      <a:solidFill>
                        <a:srgbClr val="000000"/>
                      </a:solidFill>
                    </a:lnT>
                    <a:lnB w="72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0.67 [0.57, 0.77] / </a:t>
                      </a: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0.63 (0.57–0.72)</a:t>
                      </a:r>
                      <a:r>
                        <a:rPr b="0" lang="en" sz="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 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720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800" spc="-1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</a:rPr>
                        <a:t>0.67 [0.56, 0.76] / 0.71 (0.67–0.75)</a:t>
                      </a:r>
                      <a:endParaRPr b="0" lang="en-IN" sz="8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1" name="Google Shape;93;p18"/>
          <p:cNvSpPr/>
          <p:nvPr/>
        </p:nvSpPr>
        <p:spPr>
          <a:xfrm>
            <a:off x="637560" y="1373400"/>
            <a:ext cx="786960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15000"/>
              </a:lnSpc>
              <a:spcBef>
                <a:spcPts val="901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n" sz="1000" spc="-1" strike="noStrike" u="sng">
                <a:solidFill>
                  <a:srgbClr val="000000"/>
                </a:solidFill>
                <a:uFillTx/>
                <a:latin typeface="Arial"/>
                <a:ea typeface="Arial"/>
              </a:rPr>
              <a:t>Table 1.</a:t>
            </a:r>
            <a:r>
              <a:rPr b="0" lang="en" sz="1000" spc="-1" strike="noStrike">
                <a:solidFill>
                  <a:srgbClr val="000000"/>
                </a:solidFill>
                <a:latin typeface="Arial"/>
                <a:ea typeface="Arial"/>
              </a:rPr>
              <a:t> Comparative AUC performance for three clinical outcomes in head and neck cancer across the original published study (</a:t>
            </a:r>
            <a:r>
              <a:rPr b="1" lang="en" sz="1000" spc="-1" strike="noStrike">
                <a:solidFill>
                  <a:srgbClr val="000000"/>
                </a:solidFill>
                <a:latin typeface="Arial"/>
                <a:ea typeface="Arial"/>
              </a:rPr>
              <a:t>“Paper Results”</a:t>
            </a:r>
            <a:r>
              <a:rPr b="0" lang="en" sz="1000" spc="-1" strike="noStrike">
                <a:solidFill>
                  <a:srgbClr val="000000"/>
                </a:solidFill>
                <a:latin typeface="Arial"/>
                <a:ea typeface="Arial"/>
              </a:rPr>
              <a:t>), our reproduced models on the same dataset (</a:t>
            </a:r>
            <a:r>
              <a:rPr b="1" lang="en" sz="1000" spc="-1" strike="noStrike">
                <a:solidFill>
                  <a:srgbClr val="000000"/>
                </a:solidFill>
                <a:latin typeface="Arial"/>
                <a:ea typeface="Arial"/>
              </a:rPr>
              <a:t>“Our Results”</a:t>
            </a:r>
            <a:r>
              <a:rPr b="0" lang="en" sz="100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72" name="Picture 3" descr="Logo&#10;&#10;Description automatically generated"/>
          <p:cNvPicPr/>
          <p:nvPr/>
        </p:nvPicPr>
        <p:blipFill>
          <a:blip r:embed="rId1"/>
          <a:stretch/>
        </p:blipFill>
        <p:spPr>
          <a:xfrm>
            <a:off x="7410600" y="266760"/>
            <a:ext cx="590760" cy="581760"/>
          </a:xfrm>
          <a:prstGeom prst="rect">
            <a:avLst/>
          </a:prstGeom>
          <a:ln w="0">
            <a:noFill/>
          </a:ln>
        </p:spPr>
      </p:pic>
      <p:pic>
        <p:nvPicPr>
          <p:cNvPr id="73" name="Picture 5" descr="A picture containing logo&#10;&#10;Description automatically generated"/>
          <p:cNvPicPr/>
          <p:nvPr/>
        </p:nvPicPr>
        <p:blipFill>
          <a:blip r:embed="rId2"/>
          <a:stretch/>
        </p:blipFill>
        <p:spPr>
          <a:xfrm>
            <a:off x="8162280" y="266760"/>
            <a:ext cx="586800" cy="57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99;p19"/>
          <p:cNvSpPr/>
          <p:nvPr/>
        </p:nvSpPr>
        <p:spPr>
          <a:xfrm>
            <a:off x="380880" y="324000"/>
            <a:ext cx="6897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1000"/>
              </a:lnSpc>
              <a:buNone/>
              <a:tabLst>
                <a:tab algn="l" pos="0"/>
              </a:tabLst>
            </a:pPr>
            <a:r>
              <a:rPr b="1" lang="en" sz="2700" spc="-1" strike="noStrike">
                <a:solidFill>
                  <a:srgbClr val="0d7377"/>
                </a:solidFill>
                <a:latin typeface="Arial"/>
                <a:ea typeface="Arial"/>
              </a:rPr>
              <a:t>Reproduction Results - With Clinical Data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75" name="Google Shape;100;p19"/>
          <p:cNvSpPr/>
          <p:nvPr/>
        </p:nvSpPr>
        <p:spPr>
          <a:xfrm>
            <a:off x="380880" y="800280"/>
            <a:ext cx="2879280" cy="312120"/>
          </a:xfrm>
          <a:prstGeom prst="roundRect">
            <a:avLst>
              <a:gd name="adj" fmla="val 19514"/>
            </a:avLst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Google Shape;101;p19"/>
          <p:cNvSpPr/>
          <p:nvPr/>
        </p:nvSpPr>
        <p:spPr>
          <a:xfrm>
            <a:off x="399960" y="800280"/>
            <a:ext cx="360" cy="312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Google Shape;102;p19"/>
          <p:cNvSpPr/>
          <p:nvPr/>
        </p:nvSpPr>
        <p:spPr>
          <a:xfrm>
            <a:off x="533520" y="876240"/>
            <a:ext cx="26647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" sz="900" spc="-1" strike="noStrike">
                <a:solidFill>
                  <a:srgbClr val="0d7377"/>
                </a:solidFill>
                <a:latin typeface="Arial"/>
                <a:ea typeface="Arial"/>
              </a:rPr>
              <a:t>✓ </a:t>
            </a:r>
            <a:r>
              <a:rPr b="1" lang="en" sz="900" spc="-1" strike="noStrike">
                <a:solidFill>
                  <a:srgbClr val="0d7377"/>
                </a:solidFill>
                <a:latin typeface="Arial"/>
                <a:ea typeface="Arial"/>
              </a:rPr>
              <a:t>Reproduced both CNN and ANN architectures</a:t>
            </a:r>
            <a:endParaRPr b="0" lang="en-IN" sz="900" spc="-1" strike="noStrike">
              <a:latin typeface="Arial"/>
            </a:endParaRPr>
          </a:p>
        </p:txBody>
      </p:sp>
      <p:graphicFrame>
        <p:nvGraphicFramePr>
          <p:cNvPr id="78" name="Google Shape;103;p19"/>
          <p:cNvGraphicFramePr/>
          <p:nvPr/>
        </p:nvGraphicFramePr>
        <p:xfrm>
          <a:off x="288360" y="2144880"/>
          <a:ext cx="8566920" cy="2532960"/>
        </p:xfrm>
        <a:graphic>
          <a:graphicData uri="http://schemas.openxmlformats.org/drawingml/2006/table">
            <a:tbl>
              <a:tblPr/>
              <a:tblGrid>
                <a:gridCol w="1177920"/>
                <a:gridCol w="798120"/>
                <a:gridCol w="1644120"/>
                <a:gridCol w="1751040"/>
                <a:gridCol w="1580760"/>
                <a:gridCol w="1614960"/>
              </a:tblGrid>
              <a:tr h="2268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7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Events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7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Cohort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7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Paper Results (CNN)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7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Our Results (CNN)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7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Paper Results </a:t>
                      </a:r>
                      <a:r>
                        <a:rPr b="1" lang="en" sz="7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(ANN)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7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Our Results (ANN)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7600">
                <a:tc gridSpan="2">
                  <a:tcPr anchor="ctr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Cohort split (CI 95%) / </a:t>
                      </a:r>
                      <a:r>
                        <a:rPr b="1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5-fold CV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Cohort split (CI 95%) / </a:t>
                      </a:r>
                      <a:r>
                        <a:rPr b="1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5-fold CV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Cohort split (CI 95%) / </a:t>
                      </a:r>
                      <a:r>
                        <a:rPr b="1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5-fold CV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Cohort split (CI 95%) / </a:t>
                      </a:r>
                      <a:r>
                        <a:rPr b="1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5-fold CV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 rowSpan="3"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7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Distant Metastasis (2y)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7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Train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0.91 [0.86, 0.95] / </a:t>
                      </a: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0.88 (0.81–0.93)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700" spc="-1" strike="noStrik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0.90 [0.84, 0.95] / 0.89 </a:t>
                      </a:r>
                      <a:r>
                        <a:rPr b="1" lang="en" sz="700" spc="-1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</a:rPr>
                        <a:t>(0.85–0.93)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0.87 [0.78, 0.93] / </a:t>
                      </a: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0.87 (0.81–0.92)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600" spc="-1" strike="noStrik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0.91  / 0.76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9760">
                <a:tc v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7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Val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0.89 [0.79, 0.98] / </a:t>
                      </a: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0.88 (0.81–0.93)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700" spc="-1" strike="noStrik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0.86 [0.68, 0.98] / 0.87 </a:t>
                      </a:r>
                      <a:r>
                        <a:rPr b="1" lang="en" sz="700" spc="-1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</a:rPr>
                        <a:t>(0.84–0.89)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0.79 [0.65, 0.93] / </a:t>
                      </a: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0.83 (0.79–0.88)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600" spc="-1" strike="noStrik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0.76  / 0.80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 v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7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Test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0.93 [0.86, 0.99] / </a:t>
                      </a: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0.88 (0.86–0.90)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700" spc="-1" strike="noStrik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0.92 [0.86, 0.98] / 0.87 </a:t>
                      </a:r>
                      <a:r>
                        <a:rPr b="1" lang="en" sz="700" spc="-1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</a:rPr>
                        <a:t>(0.85–0.88)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0.87 [0.78, 0.95] / </a:t>
                      </a: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0.86 (0.81–0.89)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600" spc="-1" strike="noStrik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0.87  / 0.82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 rowSpan="3"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7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Locoregional failure (2y)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7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Train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0.84 [0.76, 0.93] / </a:t>
                      </a: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0.77 (0.62–0.87)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700" spc="-1" strike="noStrik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0.75 [0.63, 0.86] / 0.55 </a:t>
                      </a:r>
                      <a:r>
                        <a:rPr b="1" lang="en" sz="700" spc="-1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</a:rPr>
                        <a:t>(0.55–0.55)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0.71 [0.61, 0.80] / </a:t>
                      </a: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0.74 (0.70–0.84)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600" spc="-1" strike="noStrik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0.78  / 0.78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5520">
                <a:tc v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7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Val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0.70 [0.54, 0.84] / </a:t>
                      </a: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0.72 (0.60–0.84)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700" spc="-1" strike="noStrik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0.70 [0.52, 0.85] / 0.70 </a:t>
                      </a:r>
                      <a:r>
                        <a:rPr b="1" lang="en" sz="700" spc="-1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</a:rPr>
                        <a:t>(0.70–0.70)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0.66 [0.48, 0.82] / </a:t>
                      </a: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0.71 (0.60, 0.81)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600" spc="-1" strike="noStrik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0.54  / 0.69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 v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7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Test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0.59 [0.47, 0.70] / </a:t>
                      </a: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0.57 (0.53–0.60)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700" spc="-1" strike="noStrik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0.57 [0.44, 0.68] / 0.40 </a:t>
                      </a:r>
                      <a:r>
                        <a:rPr b="1" lang="en" sz="700" spc="-1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</a:rPr>
                        <a:t>(0.40–0.40)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0.41 [0.29, 0.54] / </a:t>
                      </a: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0.53 (0.50, 0.54)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600" spc="-1" strike="noStrik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0.33  / 0.40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 rowSpan="3"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7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Overall survival (4y)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ctr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7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Train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0.74 [0.64, 0.84] / </a:t>
                      </a: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0.83 (0.74–0.94)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700" spc="-1" strike="noStrik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0.74 [0.64, 0.84] / 0.81 </a:t>
                      </a:r>
                      <a:r>
                        <a:rPr b="1" lang="en" sz="700" spc="-1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</a:rPr>
                        <a:t>(0.79–0.82)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0.83 [0.74, 0.90] / </a:t>
                      </a: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0.83 (0.77–0.85)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600" spc="-1" strike="noStrik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0.78  / 0.84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4000">
                <a:tc v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7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Val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0.74 [0.58, 0.86] / </a:t>
                      </a: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0.81 (0.73–0.93)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700" spc="-1" strike="noStrik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0.72 [0.58, 0.86] / 0.81 </a:t>
                      </a:r>
                      <a:r>
                        <a:rPr b="1" lang="en" sz="700" spc="-1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</a:rPr>
                        <a:t>(0.78–0.83)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0.75 [0.62, 0.87] / </a:t>
                      </a: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0.76 (0.71–0.78)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600" spc="-1" strike="noStrik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0.74  / 0.79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6080">
                <a:tc v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7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Test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0.69 [0.59, 0.79] / </a:t>
                      </a: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0.68 (0.63–0.71)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700" spc="-1" strike="noStrik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0.69 [0.59, 0.79] / 0.60 </a:t>
                      </a:r>
                      <a:r>
                        <a:rPr b="1" lang="en" sz="700" spc="-1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</a:rPr>
                        <a:t>(0.57–0.64)</a:t>
                      </a:r>
                      <a:endParaRPr b="0" lang="en-IN" sz="7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0.63 [0.52, 0.73] / </a:t>
                      </a:r>
                      <a:r>
                        <a:rPr b="0" lang="en" sz="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0.63 (0.61, 0.64)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600" spc="-1" strike="noStrike">
                          <a:solidFill>
                            <a:srgbClr val="c0000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0.65  / 0.56</a:t>
                      </a:r>
                      <a:endParaRPr b="0" lang="en-IN" sz="6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9" name="Google Shape;104;p19"/>
          <p:cNvSpPr/>
          <p:nvPr/>
        </p:nvSpPr>
        <p:spPr>
          <a:xfrm>
            <a:off x="322920" y="1411200"/>
            <a:ext cx="8438040" cy="5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50000"/>
              </a:lnSpc>
              <a:spcBef>
                <a:spcPts val="799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en" sz="1000" spc="-1" strike="noStrike" u="sng">
                <a:solidFill>
                  <a:srgbClr val="000000"/>
                </a:solidFill>
                <a:uFillTx/>
                <a:latin typeface="Arial"/>
                <a:ea typeface="Arial"/>
              </a:rPr>
              <a:t>Table 2.</a:t>
            </a:r>
            <a:r>
              <a:rPr b="0" lang="en" sz="1000" spc="-1" strike="noStrike">
                <a:solidFill>
                  <a:srgbClr val="000000"/>
                </a:solidFill>
                <a:latin typeface="Arial"/>
                <a:ea typeface="Arial"/>
              </a:rPr>
              <a:t> Comparative performance (AUCs) including clinical data for predicting multiple clinical outcomes in head and neck cancer across the original study results (</a:t>
            </a:r>
            <a:r>
              <a:rPr b="1" lang="en" sz="1000" spc="-1" strike="noStrike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b="1" i="1" lang="en" sz="1000" spc="-1" strike="noStrike">
                <a:solidFill>
                  <a:srgbClr val="000000"/>
                </a:solidFill>
                <a:latin typeface="Arial"/>
                <a:ea typeface="Arial"/>
              </a:rPr>
              <a:t>Paper Results”</a:t>
            </a:r>
            <a:r>
              <a:rPr b="0" lang="en" sz="1000" spc="-1" strike="noStrike">
                <a:solidFill>
                  <a:srgbClr val="000000"/>
                </a:solidFill>
                <a:latin typeface="Arial"/>
                <a:ea typeface="Arial"/>
              </a:rPr>
              <a:t>), our reproduced CNN and ANN models (</a:t>
            </a:r>
            <a:r>
              <a:rPr b="1" lang="en" sz="1000" spc="-1" strike="noStrike">
                <a:solidFill>
                  <a:srgbClr val="000000"/>
                </a:solidFill>
                <a:latin typeface="Arial"/>
                <a:ea typeface="Arial"/>
              </a:rPr>
              <a:t>“</a:t>
            </a:r>
            <a:r>
              <a:rPr b="1" i="1" lang="en" sz="1000" spc="-1" strike="noStrike">
                <a:solidFill>
                  <a:srgbClr val="000000"/>
                </a:solidFill>
                <a:latin typeface="Arial"/>
                <a:ea typeface="Arial"/>
              </a:rPr>
              <a:t>Our Results”</a:t>
            </a:r>
            <a:r>
              <a:rPr b="0" lang="en" sz="100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80" name="Picture 3" descr="Logo&#10;&#10;Description automatically generated"/>
          <p:cNvPicPr/>
          <p:nvPr/>
        </p:nvPicPr>
        <p:blipFill>
          <a:blip r:embed="rId1"/>
          <a:stretch/>
        </p:blipFill>
        <p:spPr>
          <a:xfrm>
            <a:off x="7410600" y="266760"/>
            <a:ext cx="590760" cy="581760"/>
          </a:xfrm>
          <a:prstGeom prst="rect">
            <a:avLst/>
          </a:prstGeom>
          <a:ln w="0">
            <a:noFill/>
          </a:ln>
        </p:spPr>
      </p:pic>
      <p:pic>
        <p:nvPicPr>
          <p:cNvPr id="81" name="Picture 5" descr="A picture containing logo&#10;&#10;Description automatically generated"/>
          <p:cNvPicPr/>
          <p:nvPr/>
        </p:nvPicPr>
        <p:blipFill>
          <a:blip r:embed="rId2"/>
          <a:stretch/>
        </p:blipFill>
        <p:spPr>
          <a:xfrm>
            <a:off x="8162280" y="266760"/>
            <a:ext cx="586800" cy="57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110;p20"/>
          <p:cNvSpPr/>
          <p:nvPr/>
        </p:nvSpPr>
        <p:spPr>
          <a:xfrm>
            <a:off x="380880" y="324000"/>
            <a:ext cx="6596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1000"/>
              </a:lnSpc>
              <a:buNone/>
              <a:tabLst>
                <a:tab algn="l" pos="0"/>
              </a:tabLst>
            </a:pPr>
            <a:r>
              <a:rPr b="1" lang="en" sz="2700" spc="-1" strike="noStrike">
                <a:solidFill>
                  <a:srgbClr val="0d7377"/>
                </a:solidFill>
                <a:latin typeface="Arial"/>
                <a:ea typeface="Arial"/>
              </a:rPr>
              <a:t>CMC Dataset - Preprocessing Complete</a:t>
            </a:r>
            <a:endParaRPr b="0" lang="en-IN" sz="2700" spc="-1" strike="noStrike">
              <a:latin typeface="Arial"/>
            </a:endParaRPr>
          </a:p>
        </p:txBody>
      </p:sp>
      <p:pic>
        <p:nvPicPr>
          <p:cNvPr id="83" name="Google Shape;111;p20" descr="/tmp/rasterized-gradient-e740e6d2.png"/>
          <p:cNvPicPr/>
          <p:nvPr/>
        </p:nvPicPr>
        <p:blipFill>
          <a:blip r:embed="rId1"/>
          <a:stretch/>
        </p:blipFill>
        <p:spPr>
          <a:xfrm>
            <a:off x="380880" y="822240"/>
            <a:ext cx="8381520" cy="1572840"/>
          </a:xfrm>
          <a:prstGeom prst="rect">
            <a:avLst/>
          </a:prstGeom>
          <a:ln w="0">
            <a:noFill/>
          </a:ln>
        </p:spPr>
      </p:pic>
      <p:sp>
        <p:nvSpPr>
          <p:cNvPr id="84" name="Google Shape;112;p20"/>
          <p:cNvSpPr/>
          <p:nvPr/>
        </p:nvSpPr>
        <p:spPr>
          <a:xfrm>
            <a:off x="491400" y="1012680"/>
            <a:ext cx="816084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" sz="1200" spc="-1" strike="noStrike">
                <a:solidFill>
                  <a:srgbClr val="ffffff"/>
                </a:solidFill>
                <a:latin typeface="Arial"/>
                <a:ea typeface="Arial"/>
              </a:rPr>
              <a:t>Preprocessing Success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5" name="Google Shape;113;p20"/>
          <p:cNvSpPr/>
          <p:nvPr/>
        </p:nvSpPr>
        <p:spPr>
          <a:xfrm>
            <a:off x="491400" y="1321200"/>
            <a:ext cx="816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" sz="3600" spc="-1" strike="noStrike">
                <a:solidFill>
                  <a:srgbClr val="ffffff"/>
                </a:solidFill>
                <a:latin typeface="Arial"/>
                <a:ea typeface="Arial"/>
              </a:rPr>
              <a:t>134/138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86" name="Google Shape;114;p20"/>
          <p:cNvSpPr/>
          <p:nvPr/>
        </p:nvSpPr>
        <p:spPr>
          <a:xfrm>
            <a:off x="491400" y="2018520"/>
            <a:ext cx="816084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" sz="1050" spc="-1" strike="noStrike">
                <a:solidFill>
                  <a:srgbClr val="ffffff"/>
                </a:solidFill>
                <a:latin typeface="Arial"/>
                <a:ea typeface="Arial"/>
              </a:rPr>
              <a:t>97.10% success rate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7" name="Google Shape;115;p20"/>
          <p:cNvSpPr/>
          <p:nvPr/>
        </p:nvSpPr>
        <p:spPr>
          <a:xfrm>
            <a:off x="380880" y="2509920"/>
            <a:ext cx="4133520" cy="1931400"/>
          </a:xfrm>
          <a:prstGeom prst="roundRect">
            <a:avLst>
              <a:gd name="adj" fmla="val 3156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Google Shape;116;p20"/>
          <p:cNvSpPr/>
          <p:nvPr/>
        </p:nvSpPr>
        <p:spPr>
          <a:xfrm>
            <a:off x="495360" y="2624040"/>
            <a:ext cx="398304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" sz="900" spc="-1" strike="noStrike">
                <a:solidFill>
                  <a:srgbClr val="1a1a1a"/>
                </a:solidFill>
                <a:latin typeface="Arial"/>
                <a:ea typeface="Arial"/>
              </a:rPr>
              <a:t>Pipeline Steps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89" name="Google Shape;117;p20"/>
          <p:cNvSpPr/>
          <p:nvPr/>
        </p:nvSpPr>
        <p:spPr>
          <a:xfrm>
            <a:off x="495360" y="2841120"/>
            <a:ext cx="3904920" cy="14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0" tIns="0" bIns="0" anchor="t">
            <a:noAutofit/>
          </a:bodyPr>
          <a:p>
            <a:pPr marL="76320" indent="-85680">
              <a:lnSpc>
                <a:spcPct val="155000"/>
              </a:lnSpc>
              <a:buClr>
                <a:srgbClr val="1a1a1a"/>
              </a:buClr>
              <a:buFont typeface="Arial"/>
              <a:buChar char="•"/>
            </a:pPr>
            <a:r>
              <a:rPr b="0" lang="en" sz="1200" spc="-1" strike="noStrike">
                <a:solidFill>
                  <a:srgbClr val="1a1a1a"/>
                </a:solidFill>
                <a:latin typeface="Arial"/>
                <a:ea typeface="Arial"/>
              </a:rPr>
              <a:t>DICOM → NIFTI conversion</a:t>
            </a:r>
            <a:endParaRPr b="0" lang="en-IN" sz="1200" spc="-1" strike="noStrike">
              <a:latin typeface="Arial"/>
            </a:endParaRPr>
          </a:p>
          <a:p>
            <a:pPr marL="76320" indent="-85680">
              <a:lnSpc>
                <a:spcPct val="155000"/>
              </a:lnSpc>
              <a:buClr>
                <a:srgbClr val="1a1a1a"/>
              </a:buClr>
              <a:buFont typeface="Arial"/>
              <a:buChar char="•"/>
            </a:pPr>
            <a:r>
              <a:rPr b="0" lang="en" sz="1200" spc="-1" strike="noStrike">
                <a:solidFill>
                  <a:srgbClr val="1a1a1a"/>
                </a:solidFill>
                <a:latin typeface="Arial"/>
                <a:ea typeface="Arial"/>
              </a:rPr>
              <a:t>GTV structure identification</a:t>
            </a:r>
            <a:endParaRPr b="0" lang="en-IN" sz="1200" spc="-1" strike="noStrike">
              <a:latin typeface="Arial"/>
            </a:endParaRPr>
          </a:p>
          <a:p>
            <a:pPr marL="76320" indent="-85680">
              <a:lnSpc>
                <a:spcPct val="155000"/>
              </a:lnSpc>
              <a:buClr>
                <a:srgbClr val="1a1a1a"/>
              </a:buClr>
              <a:buFont typeface="Arial"/>
              <a:buChar char="•"/>
            </a:pPr>
            <a:r>
              <a:rPr b="0" lang="en" sz="1200" spc="-1" strike="noStrike">
                <a:solidFill>
                  <a:srgbClr val="1a1a1a"/>
                </a:solidFill>
                <a:latin typeface="Arial"/>
                <a:ea typeface="Arial"/>
              </a:rPr>
              <a:t>RAS orientation</a:t>
            </a:r>
            <a:endParaRPr b="0" lang="en-IN" sz="1200" spc="-1" strike="noStrike">
              <a:latin typeface="Arial"/>
            </a:endParaRPr>
          </a:p>
          <a:p>
            <a:pPr marL="76320" indent="-85680">
              <a:lnSpc>
                <a:spcPct val="155000"/>
              </a:lnSpc>
              <a:buClr>
                <a:srgbClr val="1a1a1a"/>
              </a:buClr>
              <a:buFont typeface="Arial"/>
              <a:buChar char="•"/>
            </a:pPr>
            <a:r>
              <a:rPr b="0" lang="en" sz="1200" spc="-1" strike="noStrike">
                <a:solidFill>
                  <a:srgbClr val="1a1a1a"/>
                </a:solidFill>
                <a:latin typeface="Arial"/>
                <a:ea typeface="Arial"/>
              </a:rPr>
              <a:t>Slice selection</a:t>
            </a:r>
            <a:endParaRPr b="0" lang="en-IN" sz="1200" spc="-1" strike="noStrike">
              <a:latin typeface="Arial"/>
            </a:endParaRPr>
          </a:p>
          <a:p>
            <a:pPr marL="76320" indent="-85680">
              <a:lnSpc>
                <a:spcPct val="155000"/>
              </a:lnSpc>
              <a:buClr>
                <a:srgbClr val="1a1a1a"/>
              </a:buClr>
              <a:buFont typeface="Arial"/>
              <a:buChar char="•"/>
            </a:pPr>
            <a:r>
              <a:rPr b="0" lang="en" sz="1200" spc="-1" strike="noStrike">
                <a:solidFill>
                  <a:srgbClr val="1a1a1a"/>
                </a:solidFill>
                <a:latin typeface="Arial"/>
                <a:ea typeface="Arial"/>
              </a:rPr>
              <a:t>PNG generation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0" name="Google Shape;118;p20"/>
          <p:cNvSpPr/>
          <p:nvPr/>
        </p:nvSpPr>
        <p:spPr>
          <a:xfrm>
            <a:off x="4629240" y="2662200"/>
            <a:ext cx="4133520" cy="1626480"/>
          </a:xfrm>
          <a:prstGeom prst="roundRect">
            <a:avLst>
              <a:gd name="adj" fmla="val 3747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Google Shape;119;p20"/>
          <p:cNvSpPr/>
          <p:nvPr/>
        </p:nvSpPr>
        <p:spPr>
          <a:xfrm>
            <a:off x="4743360" y="2776680"/>
            <a:ext cx="398304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" sz="900" spc="-1" strike="noStrike">
                <a:solidFill>
                  <a:srgbClr val="1a1a1a"/>
                </a:solidFill>
                <a:latin typeface="Arial"/>
                <a:ea typeface="Arial"/>
              </a:rPr>
              <a:t>Quality Validation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92" name="Google Shape;120;p20"/>
          <p:cNvSpPr/>
          <p:nvPr/>
        </p:nvSpPr>
        <p:spPr>
          <a:xfrm>
            <a:off x="4743360" y="2993760"/>
            <a:ext cx="3904920" cy="11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0" tIns="0" bIns="0" anchor="t">
            <a:noAutofit/>
          </a:bodyPr>
          <a:p>
            <a:pPr marL="76320" indent="-85680">
              <a:lnSpc>
                <a:spcPct val="155000"/>
              </a:lnSpc>
              <a:buClr>
                <a:srgbClr val="1a1a1a"/>
              </a:buClr>
              <a:buFont typeface="Arial"/>
              <a:buChar char="•"/>
            </a:pPr>
            <a:r>
              <a:rPr b="0" lang="en" sz="1200" spc="-1" strike="noStrike">
                <a:solidFill>
                  <a:srgbClr val="1a1a1a"/>
                </a:solidFill>
                <a:latin typeface="Arial"/>
                <a:ea typeface="Arial"/>
              </a:rPr>
              <a:t>Tumor centering validated</a:t>
            </a:r>
            <a:endParaRPr b="0" lang="en-IN" sz="1200" spc="-1" strike="noStrike">
              <a:latin typeface="Arial"/>
            </a:endParaRPr>
          </a:p>
          <a:p>
            <a:pPr marL="76320" indent="-85680">
              <a:lnSpc>
                <a:spcPct val="155000"/>
              </a:lnSpc>
              <a:buClr>
                <a:srgbClr val="1a1a1a"/>
              </a:buClr>
              <a:buFont typeface="Arial"/>
              <a:buChar char="•"/>
            </a:pPr>
            <a:r>
              <a:rPr b="0" lang="en" sz="1200" spc="-1" strike="noStrike">
                <a:solidFill>
                  <a:srgbClr val="1a1a1a"/>
                </a:solidFill>
                <a:latin typeface="Arial"/>
                <a:ea typeface="Arial"/>
              </a:rPr>
              <a:t>Consistent HU windows</a:t>
            </a:r>
            <a:endParaRPr b="0" lang="en-IN" sz="1200" spc="-1" strike="noStrike">
              <a:latin typeface="Arial"/>
            </a:endParaRPr>
          </a:p>
          <a:p>
            <a:pPr marL="76320" indent="-85680">
              <a:lnSpc>
                <a:spcPct val="155000"/>
              </a:lnSpc>
              <a:buClr>
                <a:srgbClr val="1a1a1a"/>
              </a:buClr>
              <a:buFont typeface="Arial"/>
              <a:buChar char="•"/>
            </a:pPr>
            <a:r>
              <a:rPr b="0" lang="en" sz="1200" spc="-1" strike="noStrike">
                <a:solidFill>
                  <a:srgbClr val="1a1a1a"/>
                </a:solidFill>
                <a:latin typeface="Arial"/>
                <a:ea typeface="Arial"/>
              </a:rPr>
              <a:t>Matches Maastro dimensions</a:t>
            </a:r>
            <a:endParaRPr b="0" lang="en-IN" sz="1200" spc="-1" strike="noStrike">
              <a:latin typeface="Arial"/>
            </a:endParaRPr>
          </a:p>
          <a:p>
            <a:pPr marL="76320" indent="-85680">
              <a:lnSpc>
                <a:spcPct val="155000"/>
              </a:lnSpc>
              <a:buClr>
                <a:srgbClr val="1a1a1a"/>
              </a:buClr>
              <a:buFont typeface="Arial"/>
              <a:buChar char="•"/>
            </a:pPr>
            <a:r>
              <a:rPr b="0" lang="en" sz="1200" spc="-1" strike="noStrike">
                <a:solidFill>
                  <a:srgbClr val="1a1a1a"/>
                </a:solidFill>
                <a:latin typeface="Arial"/>
                <a:ea typeface="Arial"/>
              </a:rPr>
              <a:t>Ready for training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3" name="Google Shape;121;p20"/>
          <p:cNvSpPr/>
          <p:nvPr/>
        </p:nvSpPr>
        <p:spPr>
          <a:xfrm>
            <a:off x="380880" y="4555800"/>
            <a:ext cx="8381520" cy="336600"/>
          </a:xfrm>
          <a:prstGeom prst="roundRect">
            <a:avLst>
              <a:gd name="adj" fmla="val 18084"/>
            </a:avLst>
          </a:prstGeom>
          <a:solidFill>
            <a:srgbClr val="fff8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Google Shape;122;p20"/>
          <p:cNvSpPr/>
          <p:nvPr/>
        </p:nvSpPr>
        <p:spPr>
          <a:xfrm>
            <a:off x="399960" y="4555800"/>
            <a:ext cx="360" cy="336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Google Shape;123;p20"/>
          <p:cNvSpPr/>
          <p:nvPr/>
        </p:nvSpPr>
        <p:spPr>
          <a:xfrm>
            <a:off x="514440" y="4651200"/>
            <a:ext cx="831600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" sz="820" spc="-1" strike="noStrike">
                <a:solidFill>
                  <a:srgbClr val="1a1a1a"/>
                </a:solidFill>
                <a:latin typeface="Arial"/>
                <a:ea typeface="Arial"/>
              </a:rPr>
              <a:t>Failures (4):</a:t>
            </a:r>
            <a:r>
              <a:rPr b="0" lang="en" sz="820" spc="-1" strike="noStrike">
                <a:solidFill>
                  <a:srgbClr val="1a1a1a"/>
                </a:solidFill>
                <a:latin typeface="Arial"/>
                <a:ea typeface="Arial"/>
              </a:rPr>
              <a:t> Missing GTV structures (2) | Corrupted DICOM (2)</a:t>
            </a:r>
            <a:endParaRPr b="0" lang="en-IN" sz="820" spc="-1" strike="noStrike">
              <a:latin typeface="Arial"/>
            </a:endParaRPr>
          </a:p>
        </p:txBody>
      </p:sp>
      <p:pic>
        <p:nvPicPr>
          <p:cNvPr id="96" name="Picture 3" descr="Logo&#10;&#10;Description automatically generated"/>
          <p:cNvPicPr/>
          <p:nvPr/>
        </p:nvPicPr>
        <p:blipFill>
          <a:blip r:embed="rId2"/>
          <a:stretch/>
        </p:blipFill>
        <p:spPr>
          <a:xfrm>
            <a:off x="7628400" y="123840"/>
            <a:ext cx="590760" cy="581760"/>
          </a:xfrm>
          <a:prstGeom prst="rect">
            <a:avLst/>
          </a:prstGeom>
          <a:ln w="0">
            <a:noFill/>
          </a:ln>
        </p:spPr>
      </p:pic>
      <p:pic>
        <p:nvPicPr>
          <p:cNvPr id="97" name="Picture 5" descr="A picture containing logo&#10;&#10;Description automatically generated"/>
          <p:cNvPicPr/>
          <p:nvPr/>
        </p:nvPicPr>
        <p:blipFill>
          <a:blip r:embed="rId3"/>
          <a:stretch/>
        </p:blipFill>
        <p:spPr>
          <a:xfrm>
            <a:off x="8380440" y="123840"/>
            <a:ext cx="586800" cy="57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129;p21"/>
          <p:cNvSpPr/>
          <p:nvPr/>
        </p:nvSpPr>
        <p:spPr>
          <a:xfrm>
            <a:off x="380880" y="324000"/>
            <a:ext cx="46825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1000"/>
              </a:lnSpc>
              <a:buNone/>
              <a:tabLst>
                <a:tab algn="l" pos="0"/>
              </a:tabLst>
            </a:pPr>
            <a:r>
              <a:rPr b="1" lang="en" sz="2700" spc="-1" strike="noStrike">
                <a:solidFill>
                  <a:srgbClr val="0d7377"/>
                </a:solidFill>
                <a:latin typeface="Arial"/>
                <a:ea typeface="Arial"/>
              </a:rPr>
              <a:t>Work Completed - Summary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99" name="Google Shape;130;p21"/>
          <p:cNvSpPr/>
          <p:nvPr/>
        </p:nvSpPr>
        <p:spPr>
          <a:xfrm>
            <a:off x="380880" y="1747800"/>
            <a:ext cx="8381520" cy="521640"/>
          </a:xfrm>
          <a:prstGeom prst="roundRect">
            <a:avLst>
              <a:gd name="adj" fmla="val 11680"/>
            </a:avLst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Google Shape;131;p21"/>
          <p:cNvSpPr/>
          <p:nvPr/>
        </p:nvSpPr>
        <p:spPr>
          <a:xfrm>
            <a:off x="399960" y="1747800"/>
            <a:ext cx="360" cy="521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Google Shape;132;p21"/>
          <p:cNvSpPr/>
          <p:nvPr/>
        </p:nvSpPr>
        <p:spPr>
          <a:xfrm>
            <a:off x="514440" y="1843200"/>
            <a:ext cx="83160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" sz="1100" spc="-1" strike="noStrike">
                <a:solidFill>
                  <a:srgbClr val="0d7377"/>
                </a:solidFill>
                <a:latin typeface="Arial"/>
                <a:ea typeface="Arial"/>
              </a:rPr>
              <a:t>Phase 1: Maastro Reproduction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2" name="Google Shape;133;p21"/>
          <p:cNvSpPr/>
          <p:nvPr/>
        </p:nvSpPr>
        <p:spPr>
          <a:xfrm>
            <a:off x="514440" y="2041200"/>
            <a:ext cx="83160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rgbClr val="1a1a1a"/>
                </a:solidFill>
                <a:latin typeface="Arial"/>
                <a:ea typeface="Arial"/>
              </a:rPr>
              <a:t>Imaging-only and imaging+clinical models. Both CNN &amp; ANN. Cohort split &amp; 5-fold CV validated.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3" name="Google Shape;134;p21"/>
          <p:cNvSpPr/>
          <p:nvPr/>
        </p:nvSpPr>
        <p:spPr>
          <a:xfrm>
            <a:off x="380880" y="2346120"/>
            <a:ext cx="8381520" cy="521640"/>
          </a:xfrm>
          <a:prstGeom prst="roundRect">
            <a:avLst>
              <a:gd name="adj" fmla="val 11680"/>
            </a:avLst>
          </a:prstGeom>
          <a:solidFill>
            <a:srgbClr val="fff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Google Shape;135;p21"/>
          <p:cNvSpPr/>
          <p:nvPr/>
        </p:nvSpPr>
        <p:spPr>
          <a:xfrm>
            <a:off x="399960" y="2346120"/>
            <a:ext cx="360" cy="521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Google Shape;136;p21"/>
          <p:cNvSpPr/>
          <p:nvPr/>
        </p:nvSpPr>
        <p:spPr>
          <a:xfrm>
            <a:off x="514440" y="2441160"/>
            <a:ext cx="83160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" sz="1100" spc="-1" strike="noStrike">
                <a:solidFill>
                  <a:srgbClr val="ff6b6b"/>
                </a:solidFill>
                <a:latin typeface="Arial"/>
                <a:ea typeface="Arial"/>
              </a:rPr>
              <a:t>Phase 2: CMC Preparation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6" name="Google Shape;137;p21"/>
          <p:cNvSpPr/>
          <p:nvPr/>
        </p:nvSpPr>
        <p:spPr>
          <a:xfrm>
            <a:off x="514440" y="2639160"/>
            <a:ext cx="83160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rgbClr val="1a1a1a"/>
                </a:solidFill>
                <a:latin typeface="Arial"/>
                <a:ea typeface="Arial"/>
              </a:rPr>
              <a:t>Pipeline adapted. 292/296 patients processed. Ready for validation.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07" name="Picture 3" descr="Logo&#10;&#10;Description automatically generated"/>
          <p:cNvPicPr/>
          <p:nvPr/>
        </p:nvPicPr>
        <p:blipFill>
          <a:blip r:embed="rId1"/>
          <a:stretch/>
        </p:blipFill>
        <p:spPr>
          <a:xfrm>
            <a:off x="7410600" y="266760"/>
            <a:ext cx="590760" cy="581760"/>
          </a:xfrm>
          <a:prstGeom prst="rect">
            <a:avLst/>
          </a:prstGeom>
          <a:ln w="0">
            <a:noFill/>
          </a:ln>
        </p:spPr>
      </p:pic>
      <p:pic>
        <p:nvPicPr>
          <p:cNvPr id="108" name="Picture 5" descr="A picture containing logo&#10;&#10;Description automatically generated"/>
          <p:cNvPicPr/>
          <p:nvPr/>
        </p:nvPicPr>
        <p:blipFill>
          <a:blip r:embed="rId2"/>
          <a:stretch/>
        </p:blipFill>
        <p:spPr>
          <a:xfrm>
            <a:off x="8162280" y="266760"/>
            <a:ext cx="586800" cy="57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43;p22"/>
          <p:cNvSpPr/>
          <p:nvPr/>
        </p:nvSpPr>
        <p:spPr>
          <a:xfrm>
            <a:off x="380880" y="324000"/>
            <a:ext cx="49838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1000"/>
              </a:lnSpc>
              <a:buNone/>
              <a:tabLst>
                <a:tab algn="l" pos="0"/>
              </a:tabLst>
            </a:pPr>
            <a:r>
              <a:rPr b="1" lang="en" sz="2700" spc="-1" strike="noStrike">
                <a:solidFill>
                  <a:srgbClr val="0d7377"/>
                </a:solidFill>
                <a:latin typeface="Arial"/>
                <a:ea typeface="Arial"/>
              </a:rPr>
              <a:t>Key Questions for Discussion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10" name="Google Shape;144;p22"/>
          <p:cNvSpPr/>
          <p:nvPr/>
        </p:nvSpPr>
        <p:spPr>
          <a:xfrm>
            <a:off x="380880" y="1274400"/>
            <a:ext cx="8381520" cy="681480"/>
          </a:xfrm>
          <a:prstGeom prst="roundRect">
            <a:avLst>
              <a:gd name="adj" fmla="val 8939"/>
            </a:avLst>
          </a:prstGeom>
          <a:solidFill>
            <a:srgbClr val="fff8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Google Shape;145;p22"/>
          <p:cNvSpPr/>
          <p:nvPr/>
        </p:nvSpPr>
        <p:spPr>
          <a:xfrm>
            <a:off x="399960" y="1274400"/>
            <a:ext cx="360" cy="681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Google Shape;146;p22"/>
          <p:cNvSpPr/>
          <p:nvPr/>
        </p:nvSpPr>
        <p:spPr>
          <a:xfrm>
            <a:off x="552600" y="1407960"/>
            <a:ext cx="823824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" sz="1050" spc="-1" strike="noStrike">
                <a:solidFill>
                  <a:srgbClr val="1a1a1a"/>
                </a:solidFill>
                <a:latin typeface="Arial"/>
                <a:ea typeface="Arial"/>
              </a:rPr>
              <a:t>1. Model Training Strategy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3" name="Google Shape;147;p22"/>
          <p:cNvSpPr/>
          <p:nvPr/>
        </p:nvSpPr>
        <p:spPr>
          <a:xfrm>
            <a:off x="552600" y="1651680"/>
            <a:ext cx="82382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1a1a1a"/>
                </a:solidFill>
                <a:latin typeface="Arial"/>
                <a:ea typeface="Arial"/>
              </a:rPr>
              <a:t>Should we train models from scratch or use model weights for reproducing work?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14" name="Google Shape;148;p22"/>
          <p:cNvSpPr/>
          <p:nvPr/>
        </p:nvSpPr>
        <p:spPr>
          <a:xfrm>
            <a:off x="380880" y="2051640"/>
            <a:ext cx="8381520" cy="681480"/>
          </a:xfrm>
          <a:prstGeom prst="roundRect">
            <a:avLst>
              <a:gd name="adj" fmla="val 8939"/>
            </a:avLst>
          </a:prstGeom>
          <a:solidFill>
            <a:srgbClr val="fff8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Google Shape;149;p22"/>
          <p:cNvSpPr/>
          <p:nvPr/>
        </p:nvSpPr>
        <p:spPr>
          <a:xfrm>
            <a:off x="399960" y="2051640"/>
            <a:ext cx="360" cy="681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Google Shape;150;p22"/>
          <p:cNvSpPr/>
          <p:nvPr/>
        </p:nvSpPr>
        <p:spPr>
          <a:xfrm>
            <a:off x="552600" y="2185200"/>
            <a:ext cx="823824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" sz="1050" spc="-1" strike="noStrike">
                <a:solidFill>
                  <a:srgbClr val="1a1a1a"/>
                </a:solidFill>
                <a:latin typeface="Arial"/>
                <a:ea typeface="Arial"/>
              </a:rPr>
              <a:t>2. Cross-Validation Reporting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7" name="Google Shape;151;p22"/>
          <p:cNvSpPr/>
          <p:nvPr/>
        </p:nvSpPr>
        <p:spPr>
          <a:xfrm>
            <a:off x="552600" y="2428920"/>
            <a:ext cx="82382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1a1a1a"/>
                </a:solidFill>
                <a:latin typeface="Arial"/>
                <a:ea typeface="Arial"/>
              </a:rPr>
              <a:t>How exactly did you calculate the 5-fold CV results? Should we simply average the 5 AUC values and report range, or bootstrap within each fold?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18" name="Google Shape;152;p22"/>
          <p:cNvSpPr/>
          <p:nvPr/>
        </p:nvSpPr>
        <p:spPr>
          <a:xfrm>
            <a:off x="380880" y="2914560"/>
            <a:ext cx="8381520" cy="681480"/>
          </a:xfrm>
          <a:prstGeom prst="roundRect">
            <a:avLst>
              <a:gd name="adj" fmla="val 8939"/>
            </a:avLst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Google Shape;153;p22"/>
          <p:cNvSpPr/>
          <p:nvPr/>
        </p:nvSpPr>
        <p:spPr>
          <a:xfrm>
            <a:off x="399960" y="2914560"/>
            <a:ext cx="360" cy="681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Google Shape;154;p22"/>
          <p:cNvSpPr/>
          <p:nvPr/>
        </p:nvSpPr>
        <p:spPr>
          <a:xfrm>
            <a:off x="552600" y="3048120"/>
            <a:ext cx="823824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" sz="1050" spc="-1" strike="noStrike">
                <a:solidFill>
                  <a:srgbClr val="1a1a1a"/>
                </a:solidFill>
                <a:latin typeface="Arial"/>
                <a:ea typeface="Arial"/>
              </a:rPr>
              <a:t>3. CMC Data Integration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1" name="Google Shape;155;p22"/>
          <p:cNvSpPr/>
          <p:nvPr/>
        </p:nvSpPr>
        <p:spPr>
          <a:xfrm>
            <a:off x="552600" y="3291840"/>
            <a:ext cx="823824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0000"/>
              </a:lnSpc>
              <a:buNone/>
            </a:pPr>
            <a:r>
              <a:rPr b="0" lang="en" sz="900" spc="-1" strike="noStrike">
                <a:solidFill>
                  <a:srgbClr val="1a1a1a"/>
                </a:solidFill>
                <a:latin typeface="Arial"/>
                <a:ea typeface="Arial"/>
              </a:rPr>
              <a:t>For external validation on CMC: Should we train from scratch or use a trained model? Any specific considerations?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122" name="Picture 3" descr="Logo&#10;&#10;Description automatically generated"/>
          <p:cNvPicPr/>
          <p:nvPr/>
        </p:nvPicPr>
        <p:blipFill>
          <a:blip r:embed="rId1"/>
          <a:stretch/>
        </p:blipFill>
        <p:spPr>
          <a:xfrm>
            <a:off x="7410600" y="266760"/>
            <a:ext cx="590760" cy="581760"/>
          </a:xfrm>
          <a:prstGeom prst="rect">
            <a:avLst/>
          </a:prstGeom>
          <a:ln w="0">
            <a:noFill/>
          </a:ln>
        </p:spPr>
      </p:pic>
      <p:pic>
        <p:nvPicPr>
          <p:cNvPr id="123" name="Picture 5" descr="A picture containing logo&#10;&#10;Description automatically generated"/>
          <p:cNvPicPr/>
          <p:nvPr/>
        </p:nvPicPr>
        <p:blipFill>
          <a:blip r:embed="rId2"/>
          <a:stretch/>
        </p:blipFill>
        <p:spPr>
          <a:xfrm>
            <a:off x="8162280" y="266760"/>
            <a:ext cx="586800" cy="57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2026-02-05T10:12:55Z</dcterms:modified>
  <cp:revision>34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